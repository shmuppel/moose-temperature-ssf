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2" r:id="rId3"/>
    <p:sldId id="259" r:id="rId4"/>
    <p:sldId id="263" r:id="rId5"/>
    <p:sldId id="271" r:id="rId6"/>
    <p:sldId id="273" r:id="rId7"/>
    <p:sldId id="272" r:id="rId8"/>
    <p:sldId id="274" r:id="rId9"/>
    <p:sldId id="260" r:id="rId10"/>
    <p:sldId id="276" r:id="rId11"/>
    <p:sldId id="277" r:id="rId12"/>
    <p:sldId id="267" r:id="rId13"/>
    <p:sldId id="278" r:id="rId14"/>
    <p:sldId id="280" r:id="rId1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147"/>
    <a:srgbClr val="05592A"/>
    <a:srgbClr val="E88471"/>
    <a:srgbClr val="D059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86115"/>
  </p:normalViewPr>
  <p:slideViewPr>
    <p:cSldViewPr snapToGrid="0">
      <p:cViewPr>
        <p:scale>
          <a:sx n="82" d="100"/>
          <a:sy n="82" d="100"/>
        </p:scale>
        <p:origin x="5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DAE8B-45A8-E545-B7EF-7D126A86E1EC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F24CB-36E3-8D40-A84A-A852C220CB5B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5875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dirty="0">
                <a:latin typeface="Lato" panose="020F0502020204030203" pitchFamily="34" charset="77"/>
              </a:rPr>
              <a:t>Extreme weather, fires, floods, and droughts have increased in both frequency and intensity over the last 50 years </a:t>
            </a:r>
            <a:r>
              <a:rPr lang="en-GB" sz="1200" dirty="0">
                <a:solidFill>
                  <a:srgbClr val="E88471"/>
                </a:solidFill>
                <a:latin typeface="Lato" panose="020F0502020204030203" pitchFamily="34" charset="77"/>
              </a:rPr>
              <a:t>(IPBES, 2019)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dirty="0">
                <a:latin typeface="Lato" panose="020F0502020204030203" pitchFamily="34" charset="77"/>
              </a:rPr>
              <a:t>Prove a challenge for an organism’s ability to adapt </a:t>
            </a:r>
            <a:r>
              <a:rPr lang="en-GB" sz="1200" dirty="0">
                <a:solidFill>
                  <a:srgbClr val="E88471"/>
                </a:solidFill>
                <a:latin typeface="Lato" panose="020F0502020204030203" pitchFamily="34" charset="77"/>
              </a:rPr>
              <a:t>(</a:t>
            </a:r>
            <a:r>
              <a:rPr lang="en-GB" sz="1200" dirty="0" err="1">
                <a:solidFill>
                  <a:srgbClr val="E88471"/>
                </a:solidFill>
                <a:latin typeface="Lato" panose="020F0502020204030203" pitchFamily="34" charset="77"/>
              </a:rPr>
              <a:t>Gutschick</a:t>
            </a:r>
            <a:r>
              <a:rPr lang="en-GB" sz="1200" dirty="0">
                <a:solidFill>
                  <a:srgbClr val="E88471"/>
                </a:solidFill>
                <a:latin typeface="Lato" panose="020F0502020204030203" pitchFamily="34" charset="77"/>
              </a:rPr>
              <a:t> and </a:t>
            </a:r>
            <a:r>
              <a:rPr lang="en-GB" sz="1200" dirty="0" err="1">
                <a:solidFill>
                  <a:srgbClr val="E88471"/>
                </a:solidFill>
                <a:latin typeface="Lato" panose="020F0502020204030203" pitchFamily="34" charset="77"/>
              </a:rPr>
              <a:t>Bassirirad</a:t>
            </a:r>
            <a:r>
              <a:rPr lang="en-GB" sz="1200" dirty="0">
                <a:solidFill>
                  <a:srgbClr val="E88471"/>
                </a:solidFill>
                <a:latin typeface="Lato" panose="020F0502020204030203" pitchFamily="34" charset="77"/>
              </a:rPr>
              <a:t>, 2010)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dirty="0">
                <a:latin typeface="Lato" panose="020F0502020204030203" pitchFamily="34" charset="77"/>
              </a:rPr>
              <a:t>Proposed to be mechanistic drivers for long-term biotic changes e.g. range shifts (Parmesan et al., 2000)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200" dirty="0">
              <a:solidFill>
                <a:srgbClr val="E88471"/>
              </a:solidFill>
              <a:latin typeface="Lato" panose="020F0502020204030203" pitchFamily="34" charset="7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E88471"/>
                </a:solidFill>
                <a:latin typeface="Lato" panose="020F0502020204030203" pitchFamily="34" charset="77"/>
              </a:rPr>
              <a:t>The challenges faced (stress, death, etc.) during these rare events caused strong responses in population number, range shift, behaviour etc.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200" dirty="0">
              <a:latin typeface="Lato" panose="020F0502020204030203" pitchFamily="34" charset="7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F24CB-36E3-8D40-A84A-A852C220CB5B}" type="slidenum">
              <a:rPr lang="en-NL" smtClean="0"/>
              <a:t>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6979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 gradual biological changes are linked to responses to extreme weather and climate events</a:t>
            </a:r>
          </a:p>
          <a:p>
            <a:r>
              <a:rPr lang="en-NL" dirty="0"/>
              <a:t>Gain further understanding of the mechanisms behind extreme weather and an animal’s ability to adapt would allow us to make better climate impact predicions and respond with management decision.</a:t>
            </a:r>
          </a:p>
          <a:p>
            <a:endParaRPr lang="en-NL" dirty="0"/>
          </a:p>
          <a:p>
            <a:r>
              <a:rPr lang="en-NL" dirty="0"/>
              <a:t>We’d like to know if moose react to extreme weather events by changing their habitat or movement? </a:t>
            </a:r>
          </a:p>
          <a:p>
            <a:r>
              <a:rPr lang="en-NL" dirty="0"/>
              <a:t>Covering all possible types of events would be out of the scope for this thesis, but we want to provide a methodological framework and test it with some hypothesis</a:t>
            </a:r>
          </a:p>
          <a:p>
            <a:endParaRPr lang="en-NL" dirty="0"/>
          </a:p>
          <a:p>
            <a:r>
              <a:rPr lang="en-US" sz="1200" b="1" dirty="0"/>
              <a:t>predict climate impacts more accurately and </a:t>
            </a:r>
            <a:endParaRPr lang="en-NL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F24CB-36E3-8D40-A84A-A852C220CB5B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24802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F24CB-36E3-8D40-A84A-A852C220CB5B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09813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F24CB-36E3-8D40-A84A-A852C220CB5B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59638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each observed step is a ‘case’ associated with a set of ‘control’ (random) steps. 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F24CB-36E3-8D40-A84A-A852C220CB5B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876366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each observed step is a ‘case’ associated with a set of ‘control’ (random) steps. 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0F24CB-36E3-8D40-A84A-A852C220CB5B}" type="slidenum">
              <a:rPr lang="en-NL" smtClean="0"/>
              <a:t>14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69553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8953C-F0D1-E402-E50F-C594DA3DD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4CAD6-078E-A792-D4EF-B060A5DF7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782E9-D194-9C2F-6D90-A31D431AF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CEDE-D9AE-C742-8C79-BD31C7543924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6757A-3C1D-15E0-DB8F-3BC218C73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F380B-790A-F276-2749-4D8830B4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E18F-B9E4-6949-BEED-A0C2E60057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29538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5B981-6819-5B7F-52B7-977CD063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F898D-5607-1B21-CF11-D6706E9DF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12BE8-3E31-2FCD-AB25-A0C2EDD1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CEDE-D9AE-C742-8C79-BD31C7543924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7A91-94F0-A2D2-BA73-67DFBF83E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237F-AA60-F511-46F8-A188429A5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E18F-B9E4-6949-BEED-A0C2E60057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52642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C898-85CD-0C96-C7C1-361CB3EB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CD858-6C5A-1390-425D-D50F573CF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52E97-D7C2-F2D6-2F69-718C3C9AC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CEDE-D9AE-C742-8C79-BD31C7543924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2DAE-A314-6486-94B3-D4051EF18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2F71F-DA3E-2BE3-18D8-E556B862D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E18F-B9E4-6949-BEED-A0C2E60057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3968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EC6FA-F2A5-22AC-CBA2-9B204DBA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6C53-8216-C0C0-CCCC-12A4C633D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9197E-639D-6627-BB60-70BEBB928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94A59-BDC0-04F5-F991-1E644B5B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CEDE-D9AE-C742-8C79-BD31C7543924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1E350-AC5E-5006-B4C2-0F600647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BF39E-0F18-96A4-D087-C4AF0F401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E18F-B9E4-6949-BEED-A0C2E60057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0242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CAFA-09F3-E650-E3E0-CB01A05C3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DD3FC-6F6A-D9CA-C0E2-A9D3233E0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E70CC1-86BA-3EE1-0973-19A407855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63DADF-62F7-757B-A603-0205A6FA9D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F94FD4-D57F-4757-B3D3-D88ED9FAD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1C8875-5AF5-9A7A-6317-D3F846636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CEDE-D9AE-C742-8C79-BD31C7543924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60546F-2C39-AA40-B737-F814138CA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A86D4A-7C68-CC0C-A48C-4BD15A57C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E18F-B9E4-6949-BEED-A0C2E60057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84450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1B447-7B08-5789-3CCF-7583AFE8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01C113-B5B5-2662-FB2B-937192B7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CEDE-D9AE-C742-8C79-BD31C7543924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E7BBBD-B3AE-0F66-2D93-ADDACBB7A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7A43D8-00C7-E83E-F8D5-435E924D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E18F-B9E4-6949-BEED-A0C2E60057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6001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739840-DA3C-3D9A-36CD-842DB5CAA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CEDE-D9AE-C742-8C79-BD31C7543924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B8B77A-E47F-CA69-7D7E-84EC0A21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ACE1F-A133-3303-1360-C11A550AF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E18F-B9E4-6949-BEED-A0C2E60057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65984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E2E7-E3F6-DB56-397D-217E86DEF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920FB-36DC-335F-F077-480B06B53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3380CF-ED15-48B1-FFFE-E7BD85182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7FC38-9143-FD12-C254-D99797CE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CEDE-D9AE-C742-8C79-BD31C7543924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0996A-33CC-CED1-285F-B614CE7B4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BC957-F72A-501E-EF3A-DF7351EF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E18F-B9E4-6949-BEED-A0C2E60057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93165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6F6D0-EA0B-D05C-421B-7A595A47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0E5B41-6D2B-4F1C-A30D-593F9033F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13016-7F06-DC79-33BF-EC4807E9A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9504F-EDDB-D075-717B-A2ECB2355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CEDE-D9AE-C742-8C79-BD31C7543924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91B10B-8526-B40B-7607-089BF6A1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46A4A-550C-E3E1-1866-42EFDA95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E18F-B9E4-6949-BEED-A0C2E60057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07011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67F39-ED24-04AE-DBE8-03615BF5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39A03-B2D0-B0B5-B06B-0E60C018EC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1D48C-1F02-93DA-56F4-ECDDCCD13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CEDE-D9AE-C742-8C79-BD31C7543924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6D50A-1B32-D708-3691-7D85173E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39E22-CDB8-0227-6C36-64CF1170A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E18F-B9E4-6949-BEED-A0C2E60057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4615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BE7607-85FE-4891-239F-25A694355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6F95E-A70D-1EFF-7CCF-14A0425DB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C3BCE5-C5B9-6734-6BB0-A3E40D48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CEDE-D9AE-C742-8C79-BD31C7543924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1D3D2-E0FE-DE0D-66D5-0A2DEBD53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5E841-9AFF-689A-0731-8471A67A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7E18F-B9E4-6949-BEED-A0C2E60057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524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AC508-BE07-B41C-D7CF-F4FD9EAFB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D96BC2-C871-4CD5-E816-871F35B3F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68BD7-1F65-4FA7-9176-066193C97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5CEDE-D9AE-C742-8C79-BD31C7543924}" type="datetimeFigureOut">
              <a:rPr lang="en-NL" smtClean="0"/>
              <a:t>10/06/2024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0D779-0104-F9DE-6AEF-BAE5A81AD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57BD4-CE74-0CD2-1BCF-A21E5FA52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E7E18F-B9E4-6949-BEED-A0C2E600570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7286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79C3F-9FA7-B99C-2965-A4E8B48DA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-1678464"/>
            <a:ext cx="5770585" cy="4567137"/>
          </a:xfrm>
        </p:spPr>
        <p:txBody>
          <a:bodyPr>
            <a:normAutofit/>
          </a:bodyPr>
          <a:lstStyle/>
          <a:p>
            <a:pPr algn="l"/>
            <a:r>
              <a:rPr lang="en-GB" sz="4400" b="1" i="0" u="none" strike="noStrike" dirty="0">
                <a:solidFill>
                  <a:srgbClr val="003147"/>
                </a:solidFill>
                <a:effectLst/>
                <a:latin typeface=""/>
              </a:rPr>
              <a:t>Moose Activity and Habitat Selection during Extreme Weather Events</a:t>
            </a:r>
            <a:endParaRPr lang="en-NL" sz="4400" b="1" dirty="0">
              <a:solidFill>
                <a:srgbClr val="003147"/>
              </a:solidFill>
              <a:latin typeface="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83597-A271-787F-6463-991C71102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3099954"/>
            <a:ext cx="4620584" cy="208385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NL" sz="1400" b="1" dirty="0">
                <a:solidFill>
                  <a:srgbClr val="05592A"/>
                </a:solidFill>
                <a:latin typeface="Lato" panose="020F0502020204030203" pitchFamily="34" charset="77"/>
              </a:rPr>
              <a:t>GRS Msc Thesis Project</a:t>
            </a:r>
            <a:r>
              <a:rPr lang="en-NL" sz="1400" b="1" dirty="0">
                <a:latin typeface="Lato" panose="020F0502020204030203" pitchFamily="34" charset="77"/>
              </a:rPr>
              <a:t>, </a:t>
            </a:r>
            <a:r>
              <a:rPr lang="en-NL" sz="1400" dirty="0">
                <a:latin typeface="Lato" panose="020F0502020204030203" pitchFamily="34" charset="77"/>
              </a:rPr>
              <a:t>Niels van der Vegt, 1163116</a:t>
            </a:r>
          </a:p>
          <a:p>
            <a:pPr algn="l"/>
            <a:endParaRPr lang="en-NL" sz="1400" b="1" dirty="0">
              <a:latin typeface="Lato" panose="020F0502020204030203" pitchFamily="34" charset="77"/>
            </a:endParaRPr>
          </a:p>
          <a:p>
            <a:pPr algn="l"/>
            <a:r>
              <a:rPr lang="en-NL" sz="1500" b="1" dirty="0">
                <a:solidFill>
                  <a:srgbClr val="05592A"/>
                </a:solidFill>
                <a:latin typeface="Lato" panose="020F0502020204030203" pitchFamily="34" charset="77"/>
              </a:rPr>
              <a:t>Wageningen University</a:t>
            </a:r>
          </a:p>
          <a:p>
            <a:pPr algn="l"/>
            <a:r>
              <a:rPr lang="en-NL" sz="1300" dirty="0">
                <a:latin typeface="Lato" panose="020F0502020204030203" pitchFamily="34" charset="77"/>
              </a:rPr>
              <a:t>Supervisor: Sytze de Bruin</a:t>
            </a:r>
          </a:p>
          <a:p>
            <a:pPr algn="l"/>
            <a:r>
              <a:rPr lang="en-GB" sz="1500" b="1" dirty="0">
                <a:solidFill>
                  <a:srgbClr val="05592A"/>
                </a:solidFill>
                <a:latin typeface="Lato" panose="020F0502020204030203" pitchFamily="34" charset="77"/>
              </a:rPr>
              <a:t>Swedish University of Agricultural Sciences</a:t>
            </a:r>
            <a:endParaRPr lang="en-NL" sz="1500" b="1" dirty="0">
              <a:solidFill>
                <a:srgbClr val="05592A"/>
              </a:solidFill>
              <a:latin typeface="Lato" panose="020F0502020204030203" pitchFamily="34" charset="77"/>
            </a:endParaRPr>
          </a:p>
          <a:p>
            <a:pPr algn="l"/>
            <a:r>
              <a:rPr lang="en-NL" sz="1300" dirty="0">
                <a:latin typeface="Lato" panose="020F0502020204030203" pitchFamily="34" charset="77"/>
              </a:rPr>
              <a:t>Dep. </a:t>
            </a:r>
            <a:r>
              <a:rPr lang="en-GB" sz="1300" dirty="0">
                <a:latin typeface="Lato" panose="020F0502020204030203" pitchFamily="34" charset="77"/>
              </a:rPr>
              <a:t>of Wildlife, Fish, and Environmental Studies (Umeå)</a:t>
            </a:r>
            <a:endParaRPr lang="en-NL" sz="1300" dirty="0">
              <a:latin typeface="Lato" panose="020F0502020204030203" pitchFamily="34" charset="77"/>
            </a:endParaRPr>
          </a:p>
          <a:p>
            <a:pPr algn="l"/>
            <a:r>
              <a:rPr lang="en-NL" sz="1300" dirty="0">
                <a:latin typeface="Lato" panose="020F0502020204030203" pitchFamily="34" charset="77"/>
              </a:rPr>
              <a:t>Supervisor: Wiebke Neumann</a:t>
            </a:r>
          </a:p>
          <a:p>
            <a:pPr algn="l"/>
            <a:endParaRPr lang="en-NL" sz="1400" dirty="0">
              <a:latin typeface="Lato" panose="020F0502020204030203" pitchFamily="34" charset="77"/>
            </a:endParaRPr>
          </a:p>
        </p:txBody>
      </p:sp>
      <p:pic>
        <p:nvPicPr>
          <p:cNvPr id="1026" name="Picture 2" descr="A moose standing in the snow&#10;&#10;Description automatically generated">
            <a:extLst>
              <a:ext uri="{FF2B5EF4-FFF2-40B4-BE49-F238E27FC236}">
                <a16:creationId xmlns:a16="http://schemas.microsoft.com/office/drawing/2014/main" id="{296F5D13-8B1B-E31A-2257-001473CD5B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6" b="10875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ageningen UR | Nutrient Platform">
            <a:extLst>
              <a:ext uri="{FF2B5EF4-FFF2-40B4-BE49-F238E27FC236}">
                <a16:creationId xmlns:a16="http://schemas.microsoft.com/office/drawing/2014/main" id="{0E642259-07E4-721E-3154-8FF68B048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058" y="5208003"/>
            <a:ext cx="1658063" cy="165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131240E-04A7-E821-B6E5-DC9196590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90" y="5444403"/>
            <a:ext cx="1066580" cy="107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5532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8" name="Rectangle 2067">
            <a:extLst>
              <a:ext uri="{FF2B5EF4-FFF2-40B4-BE49-F238E27FC236}">
                <a16:creationId xmlns:a16="http://schemas.microsoft.com/office/drawing/2014/main" id="{7C9BE72A-4F97-4FA0-AF09-2C65D071C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83597-A271-787F-6463-991C71102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087" y="4593407"/>
            <a:ext cx="10965123" cy="1464493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3147"/>
                </a:solidFill>
                <a:latin typeface="Lato" panose="020F0502020204030203" pitchFamily="34" charset="77"/>
              </a:rPr>
              <a:t>Extreme weather, fires, floods, and droughts have increased in both frequency and intensity over the last 50 years (IPBES, 2019)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3147"/>
                </a:solidFill>
                <a:latin typeface="Lato" panose="020F0502020204030203" pitchFamily="34" charset="77"/>
              </a:rPr>
              <a:t>Prove a challenge for an organism’s ability to adapt (</a:t>
            </a:r>
            <a:r>
              <a:rPr lang="en-GB" sz="1800" dirty="0" err="1">
                <a:solidFill>
                  <a:srgbClr val="003147"/>
                </a:solidFill>
                <a:latin typeface="Lato" panose="020F0502020204030203" pitchFamily="34" charset="77"/>
              </a:rPr>
              <a:t>Gutschick</a:t>
            </a:r>
            <a:r>
              <a:rPr lang="en-GB" sz="1800" dirty="0">
                <a:solidFill>
                  <a:srgbClr val="003147"/>
                </a:solidFill>
                <a:latin typeface="Lato" panose="020F0502020204030203" pitchFamily="34" charset="77"/>
              </a:rPr>
              <a:t> and </a:t>
            </a:r>
            <a:r>
              <a:rPr lang="en-GB" sz="1800" dirty="0" err="1">
                <a:solidFill>
                  <a:srgbClr val="003147"/>
                </a:solidFill>
                <a:latin typeface="Lato" panose="020F0502020204030203" pitchFamily="34" charset="77"/>
              </a:rPr>
              <a:t>Bassirirad</a:t>
            </a:r>
            <a:r>
              <a:rPr lang="en-GB" sz="1800" dirty="0">
                <a:solidFill>
                  <a:srgbClr val="003147"/>
                </a:solidFill>
                <a:latin typeface="Lato" panose="020F0502020204030203" pitchFamily="34" charset="77"/>
              </a:rPr>
              <a:t>, 2010)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3147"/>
                </a:solidFill>
                <a:latin typeface="Lato" panose="020F0502020204030203" pitchFamily="34" charset="77"/>
              </a:rPr>
              <a:t>Sometimes the mechanistic drivers behind long-term biotic changes (Parmesan et al., 2000)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E88471"/>
              </a:solidFill>
              <a:latin typeface="Lato" panose="020F0502020204030203" pitchFamily="34" charset="7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E88471"/>
              </a:solidFill>
              <a:latin typeface="Lato" panose="020F0502020204030203" pitchFamily="34" charset="7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800" dirty="0">
              <a:latin typeface="Lato" panose="020F0502020204030203" pitchFamily="34" charset="77"/>
            </a:endParaRPr>
          </a:p>
        </p:txBody>
      </p:sp>
      <p:pic>
        <p:nvPicPr>
          <p:cNvPr id="4" name="Picture 6" descr="Moose with calves in a forest. Photo.">
            <a:extLst>
              <a:ext uri="{FF2B5EF4-FFF2-40B4-BE49-F238E27FC236}">
                <a16:creationId xmlns:a16="http://schemas.microsoft.com/office/drawing/2014/main" id="{9F5A8D04-AA2D-AE39-870B-0D521A3B9F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3" r="16555" b="-2"/>
          <a:stretch/>
        </p:blipFill>
        <p:spPr bwMode="auto">
          <a:xfrm>
            <a:off x="717913" y="416061"/>
            <a:ext cx="3318075" cy="324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N PICTURES: Thawing snow causes floods in northern Sweden">
            <a:extLst>
              <a:ext uri="{FF2B5EF4-FFF2-40B4-BE49-F238E27FC236}">
                <a16:creationId xmlns:a16="http://schemas.microsoft.com/office/drawing/2014/main" id="{CF1DED68-7151-ECB2-A88D-384FFD97A9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34" r="9860" b="3"/>
          <a:stretch/>
        </p:blipFill>
        <p:spPr bwMode="auto">
          <a:xfrm>
            <a:off x="4470833" y="409713"/>
            <a:ext cx="3333459" cy="324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65C9A00C-70D3-7465-75AF-37EDD0B5EE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2" r="26414" b="3"/>
          <a:stretch/>
        </p:blipFill>
        <p:spPr bwMode="auto">
          <a:xfrm>
            <a:off x="8232483" y="409713"/>
            <a:ext cx="3319727" cy="3247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53D521F-BAD0-1018-A2AE-720452C10C24}"/>
              </a:ext>
            </a:extLst>
          </p:cNvPr>
          <p:cNvSpPr txBox="1"/>
          <p:nvPr/>
        </p:nvSpPr>
        <p:spPr>
          <a:xfrm>
            <a:off x="587087" y="3897845"/>
            <a:ext cx="7645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03147"/>
                </a:solidFill>
                <a:latin typeface=""/>
              </a:rPr>
              <a:t>Climate Change, Extreme Weather, and Moose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B3360F-260A-035D-1EEF-B113FCC9C313}"/>
              </a:ext>
            </a:extLst>
          </p:cNvPr>
          <p:cNvSpPr txBox="1"/>
          <p:nvPr/>
        </p:nvSpPr>
        <p:spPr>
          <a:xfrm>
            <a:off x="100693" y="6462296"/>
            <a:ext cx="127409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800" dirty="0">
                <a:solidFill>
                  <a:srgbClr val="AFAFAF"/>
                </a:solidFill>
                <a:latin typeface="Noto Sans" panose="020B0604020202020204" pitchFamily="34" charset="0"/>
              </a:rPr>
              <a:t>Credit Photos</a:t>
            </a:r>
            <a:br>
              <a:rPr lang="en-NL" sz="800" dirty="0">
                <a:solidFill>
                  <a:srgbClr val="AFAFAF"/>
                </a:solidFill>
                <a:latin typeface="Noto Sans" panose="020B0604020202020204" pitchFamily="34" charset="0"/>
              </a:rPr>
            </a:br>
            <a:r>
              <a:rPr lang="en-GB" sz="800" b="0" i="0" dirty="0">
                <a:solidFill>
                  <a:srgbClr val="AFAFAF"/>
                </a:solidFill>
                <a:effectLst/>
                <a:latin typeface="Noto Sans" panose="020B0604020202020204" pitchFamily="34" charset="0"/>
              </a:rPr>
              <a:t>Grahame </a:t>
            </a:r>
            <a:r>
              <a:rPr lang="en-GB" sz="800" b="0" i="0" dirty="0" err="1">
                <a:solidFill>
                  <a:srgbClr val="AFAFAF"/>
                </a:solidFill>
                <a:effectLst/>
                <a:latin typeface="Noto Sans" panose="020B0604020202020204" pitchFamily="34" charset="0"/>
              </a:rPr>
              <a:t>Soden</a:t>
            </a:r>
            <a:r>
              <a:rPr lang="en-GB" sz="800" b="0" i="0" dirty="0">
                <a:solidFill>
                  <a:srgbClr val="AFAFAF"/>
                </a:solidFill>
                <a:effectLst/>
                <a:latin typeface="Noto Sans" panose="020B0604020202020204" pitchFamily="34" charset="0"/>
              </a:rPr>
              <a:t> (left), Fredrik </a:t>
            </a:r>
            <a:r>
              <a:rPr lang="en-GB" sz="800" b="0" i="0" dirty="0" err="1">
                <a:solidFill>
                  <a:srgbClr val="AFAFAF"/>
                </a:solidFill>
                <a:effectLst/>
                <a:latin typeface="Noto Sans" panose="020B0604020202020204" pitchFamily="34" charset="0"/>
              </a:rPr>
              <a:t>Stenbacka</a:t>
            </a:r>
            <a:r>
              <a:rPr lang="en-GB" sz="800" b="0" i="0" dirty="0">
                <a:solidFill>
                  <a:srgbClr val="AFAFAF"/>
                </a:solidFill>
                <a:effectLst/>
                <a:latin typeface="Noto Sans" panose="020B0604020202020204" pitchFamily="34" charset="0"/>
              </a:rPr>
              <a:t> (middle), NASA (right)</a:t>
            </a:r>
            <a:endParaRPr lang="en-NL" sz="800" dirty="0"/>
          </a:p>
        </p:txBody>
      </p:sp>
    </p:spTree>
    <p:extLst>
      <p:ext uri="{BB962C8B-B14F-4D97-AF65-F5344CB8AC3E}">
        <p14:creationId xmlns:p14="http://schemas.microsoft.com/office/powerpoint/2010/main" val="292416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F10CDD-1234-3792-89B4-E0ACF82AE333}"/>
              </a:ext>
            </a:extLst>
          </p:cNvPr>
          <p:cNvSpPr txBox="1"/>
          <p:nvPr/>
        </p:nvSpPr>
        <p:spPr>
          <a:xfrm>
            <a:off x="6417733" y="490538"/>
            <a:ext cx="5291663" cy="7563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3147"/>
                </a:solidFill>
                <a:latin typeface="+mj-lt"/>
                <a:ea typeface="+mj-ea"/>
                <a:cs typeface="+mj-cs"/>
              </a:rPr>
              <a:t>Research Need</a:t>
            </a:r>
          </a:p>
        </p:txBody>
      </p:sp>
      <p:pic>
        <p:nvPicPr>
          <p:cNvPr id="1028" name="Picture 4" descr="A moose runs in a forest where there has been a forest fire. Photo.">
            <a:extLst>
              <a:ext uri="{FF2B5EF4-FFF2-40B4-BE49-F238E27FC236}">
                <a16:creationId xmlns:a16="http://schemas.microsoft.com/office/drawing/2014/main" id="{62D8B6EC-ABE3-3246-325F-2D86FE9249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5" r="5125"/>
          <a:stretch/>
        </p:blipFill>
        <p:spPr bwMode="auto"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87D4DBAB-DD77-6B24-06CE-B125BFE00196}"/>
              </a:ext>
            </a:extLst>
          </p:cNvPr>
          <p:cNvSpPr txBox="1">
            <a:spLocks/>
          </p:cNvSpPr>
          <p:nvPr/>
        </p:nvSpPr>
        <p:spPr>
          <a:xfrm>
            <a:off x="6417734" y="1427018"/>
            <a:ext cx="5291663" cy="4940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3147"/>
                </a:solidFill>
              </a:rPr>
              <a:t>  Swedish moose are facing challenges</a:t>
            </a:r>
          </a:p>
          <a:p>
            <a:pPr lvl="2" indent="-228600" algn="l">
              <a:buFont typeface="Arial" panose="020B0604020202020204" pitchFamily="34" charset="0"/>
              <a:buChar char="•"/>
            </a:pPr>
            <a:r>
              <a:rPr lang="en-US" dirty="0"/>
              <a:t> Reduced population numbers</a:t>
            </a:r>
          </a:p>
          <a:p>
            <a:pPr lvl="2" indent="-228600" algn="l">
              <a:buFont typeface="Arial" panose="020B0604020202020204" pitchFamily="34" charset="0"/>
              <a:buChar char="•"/>
            </a:pPr>
            <a:r>
              <a:rPr lang="en-US" dirty="0"/>
              <a:t> Reduced offspring, calves weigh less (especially after dry, hot springs)</a:t>
            </a:r>
          </a:p>
          <a:p>
            <a:pPr lvl="2" indent="-228600" algn="l">
              <a:buFont typeface="Arial" panose="020B0604020202020204" pitchFamily="34" charset="0"/>
              <a:buChar char="•"/>
            </a:pPr>
            <a:r>
              <a:rPr lang="en-US" dirty="0"/>
              <a:t> Large scale habitat alteration due to forest fires, floods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3147"/>
                </a:solidFill>
              </a:rPr>
              <a:t>Investigating the mechanisms could help us make informed management decisions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Alter hunting policy after extreme events to reduce pressure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Consider altered wildlife habitat needs in landscape planning </a:t>
            </a:r>
          </a:p>
          <a:p>
            <a:pPr algn="l"/>
            <a:endParaRPr lang="en-US" sz="1500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94A4315-EF28-7972-C50D-283C16518B84}"/>
              </a:ext>
            </a:extLst>
          </p:cNvPr>
          <p:cNvSpPr txBox="1">
            <a:spLocks/>
          </p:cNvSpPr>
          <p:nvPr/>
        </p:nvSpPr>
        <p:spPr>
          <a:xfrm>
            <a:off x="370956" y="255038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9D0BED5-D651-D45E-8E51-5923EE95A152}"/>
              </a:ext>
            </a:extLst>
          </p:cNvPr>
          <p:cNvSpPr txBox="1">
            <a:spLocks/>
          </p:cNvSpPr>
          <p:nvPr/>
        </p:nvSpPr>
        <p:spPr>
          <a:xfrm>
            <a:off x="525780" y="3602037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42B0E7-9B78-F200-EDA1-11777B007B4F}"/>
              </a:ext>
            </a:extLst>
          </p:cNvPr>
          <p:cNvSpPr txBox="1"/>
          <p:nvPr/>
        </p:nvSpPr>
        <p:spPr>
          <a:xfrm>
            <a:off x="6096000" y="6599126"/>
            <a:ext cx="127409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800" dirty="0">
                <a:solidFill>
                  <a:srgbClr val="AFAFAF"/>
                </a:solidFill>
                <a:latin typeface="Noto Sans" panose="020B0604020202020204" pitchFamily="34" charset="0"/>
              </a:rPr>
              <a:t>Credit Photo: </a:t>
            </a:r>
            <a:r>
              <a:rPr lang="en-GB" sz="800" b="0" i="0" dirty="0">
                <a:solidFill>
                  <a:srgbClr val="AFAFAF"/>
                </a:solidFill>
                <a:effectLst/>
                <a:latin typeface="Noto Sans" panose="020B0604020202020204" pitchFamily="34" charset="0"/>
              </a:rPr>
              <a:t>Fredrik </a:t>
            </a:r>
            <a:r>
              <a:rPr lang="en-GB" sz="800" b="0" i="0" dirty="0" err="1">
                <a:solidFill>
                  <a:srgbClr val="AFAFAF"/>
                </a:solidFill>
                <a:effectLst/>
                <a:latin typeface="Noto Sans" panose="020B0604020202020204" pitchFamily="34" charset="0"/>
              </a:rPr>
              <a:t>Stenbacka</a:t>
            </a:r>
            <a:endParaRPr lang="en-NL" sz="800" dirty="0"/>
          </a:p>
        </p:txBody>
      </p:sp>
    </p:spTree>
    <p:extLst>
      <p:ext uri="{BB962C8B-B14F-4D97-AF65-F5344CB8AC3E}">
        <p14:creationId xmlns:p14="http://schemas.microsoft.com/office/powerpoint/2010/main" val="54594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A5A3A8BE-222B-8DFC-E29C-051065038F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2704"/>
          <a:stretch/>
        </p:blipFill>
        <p:spPr bwMode="auto"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9558BD-FEC1-21FF-6932-5B0F93055070}"/>
              </a:ext>
            </a:extLst>
          </p:cNvPr>
          <p:cNvSpPr txBox="1"/>
          <p:nvPr/>
        </p:nvSpPr>
        <p:spPr>
          <a:xfrm>
            <a:off x="728420" y="588936"/>
            <a:ext cx="37970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3147"/>
                </a:solidFill>
                <a:latin typeface="+mj-lt"/>
                <a:ea typeface="+mj-ea"/>
                <a:cs typeface="+mj-cs"/>
              </a:rPr>
              <a:t>Research Aim</a:t>
            </a:r>
          </a:p>
          <a:p>
            <a:endParaRPr lang="en-NL"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72B023-358B-8D3E-792D-CEBB1C7C48C2}"/>
              </a:ext>
            </a:extLst>
          </p:cNvPr>
          <p:cNvSpPr txBox="1"/>
          <p:nvPr/>
        </p:nvSpPr>
        <p:spPr>
          <a:xfrm>
            <a:off x="6845085" y="1250655"/>
            <a:ext cx="461849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We’ll look at movement and habitat selection during extreme weather and compare them to usual weather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Considering 4 hypotheses, large amount of interaction effects challenging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Aim to create a methodology and codebase that can easily analyze other covariates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L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020A31-DF13-769C-41F7-BB14FEC1EC18}"/>
              </a:ext>
            </a:extLst>
          </p:cNvPr>
          <p:cNvSpPr txBox="1"/>
          <p:nvPr/>
        </p:nvSpPr>
        <p:spPr>
          <a:xfrm>
            <a:off x="6448425" y="6642554"/>
            <a:ext cx="127409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800" dirty="0">
                <a:solidFill>
                  <a:srgbClr val="003147"/>
                </a:solidFill>
                <a:latin typeface="Noto Sans" panose="020B0604020202020204" pitchFamily="34" charset="0"/>
              </a:rPr>
              <a:t>Credit Photo: </a:t>
            </a:r>
            <a:r>
              <a:rPr lang="en-GB" sz="800" b="0" i="0" dirty="0">
                <a:solidFill>
                  <a:srgbClr val="003147"/>
                </a:solidFill>
                <a:effectLst/>
                <a:latin typeface="Noto Sans" panose="020B0604020202020204" pitchFamily="34" charset="0"/>
              </a:rPr>
              <a:t>Eric Andersson</a:t>
            </a:r>
            <a:endParaRPr lang="en-NL" sz="800" dirty="0">
              <a:solidFill>
                <a:srgbClr val="0031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26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9C3F-9FA7-B99C-2965-A4E8B48DA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48781" y="0"/>
            <a:ext cx="7536872" cy="1967961"/>
          </a:xfrm>
        </p:spPr>
        <p:txBody>
          <a:bodyPr>
            <a:normAutofit/>
          </a:bodyPr>
          <a:lstStyle/>
          <a:p>
            <a:r>
              <a:rPr lang="en-NL" sz="4000" dirty="0">
                <a:solidFill>
                  <a:srgbClr val="003147"/>
                </a:solidFill>
                <a:latin typeface=""/>
              </a:rPr>
              <a:t>Moose Tracking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83597-A271-787F-6463-991C71102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539" y="2136989"/>
            <a:ext cx="6334861" cy="411141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Data collected since 2003 across Sweden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NL" dirty="0"/>
              <a:t>Location every 3 hours using satallite GPS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Won’t analyse all data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NL" dirty="0"/>
              <a:t>Not during rutting season (early October) or migration (April &amp; May) due to extreme changes in habitat usage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NL" dirty="0"/>
              <a:t>1.602.094 total localisations for 718 individuals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NL" dirty="0"/>
              <a:t>Average time tracked will differ</a:t>
            </a:r>
          </a:p>
        </p:txBody>
      </p:sp>
      <p:pic>
        <p:nvPicPr>
          <p:cNvPr id="2050" name="Picture 2" descr="Map showing study areas">
            <a:extLst>
              <a:ext uri="{FF2B5EF4-FFF2-40B4-BE49-F238E27FC236}">
                <a16:creationId xmlns:a16="http://schemas.microsoft.com/office/drawing/2014/main" id="{4188818D-1574-A298-B7A1-BE1A8DF85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617" y="418611"/>
            <a:ext cx="4260535" cy="6020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map of a country with pink spots&#10;&#10;Description automatically generated">
            <a:extLst>
              <a:ext uri="{FF2B5EF4-FFF2-40B4-BE49-F238E27FC236}">
                <a16:creationId xmlns:a16="http://schemas.microsoft.com/office/drawing/2014/main" id="{69626D50-FC9E-3CEF-1AB9-43D17F92C1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725" t="-1876" r="22616" b="1876"/>
          <a:stretch/>
        </p:blipFill>
        <p:spPr>
          <a:xfrm>
            <a:off x="7010400" y="86139"/>
            <a:ext cx="4943061" cy="668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0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6A84AF-6F58-471A-BF1F-10D8C0351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79C3F-9FA7-B99C-2965-A4E8B48DA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087" y="-1864427"/>
            <a:ext cx="3785513" cy="3728853"/>
          </a:xfrm>
          <a:noFill/>
        </p:spPr>
        <p:txBody>
          <a:bodyPr>
            <a:normAutofit/>
          </a:bodyPr>
          <a:lstStyle/>
          <a:p>
            <a:pPr algn="l"/>
            <a:r>
              <a:rPr lang="en-NL" sz="5200" dirty="0">
                <a:solidFill>
                  <a:srgbClr val="003147"/>
                </a:solidFill>
                <a:latin typeface=""/>
              </a:rPr>
              <a:t>Land Use / Terrain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83597-A271-787F-6463-991C71102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086" y="2048554"/>
            <a:ext cx="3785514" cy="4392001"/>
          </a:xfrm>
          <a:noFill/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>
                <a:solidFill>
                  <a:srgbClr val="003147"/>
                </a:solidFill>
              </a:rPr>
              <a:t>Two land use maps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NL" dirty="0">
                <a:solidFill>
                  <a:srgbClr val="003147"/>
                </a:solidFill>
              </a:rPr>
              <a:t>2003-2017 (25x25m)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NL" dirty="0">
                <a:solidFill>
                  <a:srgbClr val="003147"/>
                </a:solidFill>
              </a:rPr>
              <a:t>2017 + (10x10m)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NL" dirty="0">
                <a:solidFill>
                  <a:srgbClr val="003147"/>
                </a:solidFill>
              </a:rPr>
              <a:t>Both manually updated with clear cut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>
                <a:solidFill>
                  <a:srgbClr val="003147"/>
                </a:solidFill>
              </a:rPr>
              <a:t>Ruggedness (50x50m) </a:t>
            </a:r>
            <a:r>
              <a:rPr lang="en-GB" dirty="0">
                <a:solidFill>
                  <a:srgbClr val="003147"/>
                </a:solidFill>
              </a:rPr>
              <a:t>(Riley et al., 1999)</a:t>
            </a:r>
            <a:endParaRPr lang="en-NL" dirty="0">
              <a:solidFill>
                <a:srgbClr val="003147"/>
              </a:solidFill>
            </a:endParaRPr>
          </a:p>
        </p:txBody>
      </p:sp>
      <p:pic>
        <p:nvPicPr>
          <p:cNvPr id="6" name="Picture 5" descr="A map of sweden with different colored squares&#10;&#10;Description automatically generated">
            <a:extLst>
              <a:ext uri="{FF2B5EF4-FFF2-40B4-BE49-F238E27FC236}">
                <a16:creationId xmlns:a16="http://schemas.microsoft.com/office/drawing/2014/main" id="{C0182F8E-85FD-B206-8876-1826BD7A74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35" r="22732"/>
          <a:stretch/>
        </p:blipFill>
        <p:spPr>
          <a:xfrm>
            <a:off x="5045687" y="417443"/>
            <a:ext cx="6801756" cy="6023113"/>
          </a:xfrm>
          <a:prstGeom prst="rect">
            <a:avLst/>
          </a:prstGeom>
        </p:spPr>
      </p:pic>
      <p:pic>
        <p:nvPicPr>
          <p:cNvPr id="15" name="Picture 14" descr="A map of land use&#10;&#10;Description automatically generated">
            <a:extLst>
              <a:ext uri="{FF2B5EF4-FFF2-40B4-BE49-F238E27FC236}">
                <a16:creationId xmlns:a16="http://schemas.microsoft.com/office/drawing/2014/main" id="{E89C4494-222C-7015-490C-35F5BC8AA5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839" r="21484"/>
          <a:stretch/>
        </p:blipFill>
        <p:spPr>
          <a:xfrm>
            <a:off x="6095257" y="417443"/>
            <a:ext cx="5922940" cy="612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43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9C3F-9FA7-B99C-2965-A4E8B48DA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24621" y="-699059"/>
            <a:ext cx="7536872" cy="1967961"/>
          </a:xfrm>
        </p:spPr>
        <p:txBody>
          <a:bodyPr>
            <a:normAutofit/>
          </a:bodyPr>
          <a:lstStyle/>
          <a:p>
            <a:r>
              <a:rPr lang="en-NL" sz="4000" dirty="0">
                <a:solidFill>
                  <a:srgbClr val="003147"/>
                </a:solidFill>
                <a:latin typeface=""/>
              </a:rPr>
              <a:t>Weather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83597-A271-787F-6463-991C71102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7741" y="1586847"/>
            <a:ext cx="3512147" cy="4436089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>
                <a:solidFill>
                  <a:srgbClr val="003147"/>
                </a:solidFill>
              </a:rPr>
              <a:t>Collected from the Swedish Meteorological and Hydrological Institute (SMHI)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>
                <a:solidFill>
                  <a:srgbClr val="003147"/>
                </a:solidFill>
              </a:rPr>
              <a:t>Open API for downloading weather station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>
                <a:solidFill>
                  <a:srgbClr val="003147"/>
                </a:solidFill>
              </a:rPr>
              <a:t>Air temperature (1hr), Precipitation intensity (mL / s), Wind, Snow-depth (1 day)…</a:t>
            </a:r>
          </a:p>
        </p:txBody>
      </p:sp>
      <p:pic>
        <p:nvPicPr>
          <p:cNvPr id="5" name="Picture 4" descr="A screenshot of a weather station&#10;&#10;Description automatically generated">
            <a:extLst>
              <a:ext uri="{FF2B5EF4-FFF2-40B4-BE49-F238E27FC236}">
                <a16:creationId xmlns:a16="http://schemas.microsoft.com/office/drawing/2014/main" id="{3E9BF6DF-594F-CAD4-86D3-B4181107E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94" r="34053"/>
          <a:stretch/>
        </p:blipFill>
        <p:spPr>
          <a:xfrm>
            <a:off x="4663485" y="950426"/>
            <a:ext cx="2305690" cy="4867681"/>
          </a:xfrm>
          <a:prstGeom prst="rect">
            <a:avLst/>
          </a:prstGeom>
        </p:spPr>
      </p:pic>
      <p:pic>
        <p:nvPicPr>
          <p:cNvPr id="7" name="Picture 6" descr="A map of the weather stations for precipitation&#10;&#10;Description automatically generated">
            <a:extLst>
              <a:ext uri="{FF2B5EF4-FFF2-40B4-BE49-F238E27FC236}">
                <a16:creationId xmlns:a16="http://schemas.microsoft.com/office/drawing/2014/main" id="{850E4B73-0FEE-C411-8361-8B71C1B1B7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973" r="33848"/>
          <a:stretch/>
        </p:blipFill>
        <p:spPr>
          <a:xfrm>
            <a:off x="6969175" y="939547"/>
            <a:ext cx="2345635" cy="4799972"/>
          </a:xfrm>
          <a:prstGeom prst="rect">
            <a:avLst/>
          </a:prstGeom>
        </p:spPr>
      </p:pic>
      <p:pic>
        <p:nvPicPr>
          <p:cNvPr id="9" name="Picture 8" descr="A map of a weather station&#10;&#10;Description automatically generated">
            <a:extLst>
              <a:ext uri="{FF2B5EF4-FFF2-40B4-BE49-F238E27FC236}">
                <a16:creationId xmlns:a16="http://schemas.microsoft.com/office/drawing/2014/main" id="{13871FEE-D61E-E097-58D1-4D3871D270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144" r="33355"/>
          <a:stretch/>
        </p:blipFill>
        <p:spPr>
          <a:xfrm>
            <a:off x="9314810" y="939547"/>
            <a:ext cx="2409481" cy="487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57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9C3F-9FA7-B99C-2965-A4E8B48DA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005" y="106018"/>
            <a:ext cx="5155096" cy="1967961"/>
          </a:xfrm>
        </p:spPr>
        <p:txBody>
          <a:bodyPr>
            <a:normAutofit/>
          </a:bodyPr>
          <a:lstStyle/>
          <a:p>
            <a:pPr algn="l"/>
            <a:r>
              <a:rPr lang="en-NL" sz="4000" dirty="0">
                <a:solidFill>
                  <a:srgbClr val="003147"/>
                </a:solidFill>
                <a:latin typeface=""/>
              </a:rPr>
              <a:t>Everything in a Spatial Database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83597-A271-787F-6463-991C71102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1005" y="2535897"/>
            <a:ext cx="6334861" cy="3520346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Currently storing all data in a PostgreSQL database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Python functions to automatically collect data from SMHI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Loading of localisations and rasters using PostGIS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Automatically get covariates for each localisation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C</a:t>
            </a:r>
            <a:r>
              <a:rPr lang="en-GB" dirty="0"/>
              <a:t>a</a:t>
            </a:r>
            <a:r>
              <a:rPr lang="en-NL" dirty="0"/>
              <a:t>n easily retrieve relevant data using dbplyr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Use in future projects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NL" dirty="0"/>
          </a:p>
        </p:txBody>
      </p:sp>
      <p:pic>
        <p:nvPicPr>
          <p:cNvPr id="5122" name="Picture 2" descr="PostGIS - OSGeo">
            <a:extLst>
              <a:ext uri="{FF2B5EF4-FFF2-40B4-BE49-F238E27FC236}">
                <a16:creationId xmlns:a16="http://schemas.microsoft.com/office/drawing/2014/main" id="{34F99C96-D06D-A505-3DFD-04CD6A64D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600" y="2335411"/>
            <a:ext cx="4250805" cy="250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3338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9C3F-9FA7-B99C-2965-A4E8B48DA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473963"/>
            <a:ext cx="9144000" cy="2387600"/>
          </a:xfrm>
        </p:spPr>
        <p:txBody>
          <a:bodyPr>
            <a:normAutofit/>
          </a:bodyPr>
          <a:lstStyle/>
          <a:p>
            <a:r>
              <a:rPr lang="en-NL" dirty="0"/>
              <a:t>Methodology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83597-A271-787F-6463-991C71102A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Defining moose strata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Defining extreme weather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How moose change movement and habitat selection</a:t>
            </a:r>
          </a:p>
        </p:txBody>
      </p:sp>
    </p:spTree>
    <p:extLst>
      <p:ext uri="{BB962C8B-B14F-4D97-AF65-F5344CB8AC3E}">
        <p14:creationId xmlns:p14="http://schemas.microsoft.com/office/powerpoint/2010/main" val="2667109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9C3F-9FA7-B99C-2965-A4E8B48DA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273" y="0"/>
            <a:ext cx="7536872" cy="1325217"/>
          </a:xfrm>
        </p:spPr>
        <p:txBody>
          <a:bodyPr>
            <a:normAutofit/>
          </a:bodyPr>
          <a:lstStyle/>
          <a:p>
            <a:pPr algn="l"/>
            <a:r>
              <a:rPr lang="en-NL" sz="4000" dirty="0">
                <a:solidFill>
                  <a:srgbClr val="003147"/>
                </a:solidFill>
                <a:latin typeface=""/>
              </a:rPr>
              <a:t>Strata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83597-A271-787F-6463-991C71102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521" y="1673163"/>
            <a:ext cx="5168670" cy="4802934"/>
          </a:xfrm>
        </p:spPr>
        <p:txBody>
          <a:bodyPr>
            <a:normAutofit/>
          </a:bodyPr>
          <a:lstStyle/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003147"/>
                </a:solidFill>
              </a:rPr>
              <a:t>Considers differences per ecological zones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003147"/>
                </a:solidFill>
              </a:rPr>
              <a:t>Tries to consider latitudinal differences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NL" sz="2400" dirty="0">
                <a:solidFill>
                  <a:srgbClr val="003147"/>
                </a:solidFill>
              </a:rPr>
              <a:t>Split analysis for Winter/Summer </a:t>
            </a:r>
            <a:r>
              <a:rPr lang="en-NL" sz="2400" dirty="0">
                <a:solidFill>
                  <a:srgbClr val="E88471"/>
                </a:solidFill>
              </a:rPr>
              <a:t>(</a:t>
            </a:r>
            <a:r>
              <a:rPr lang="en-GB" sz="2400" dirty="0" err="1">
                <a:solidFill>
                  <a:srgbClr val="E88471"/>
                </a:solidFill>
              </a:rPr>
              <a:t>Græsli</a:t>
            </a:r>
            <a:r>
              <a:rPr lang="en-GB" sz="2400" dirty="0">
                <a:solidFill>
                  <a:srgbClr val="E88471"/>
                </a:solidFill>
              </a:rPr>
              <a:t> et al., 2020)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E8847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3147"/>
                </a:solidFill>
              </a:rPr>
              <a:t>Using UN Global Ecological Zones, Coastal zones of SMHI, and the Mountain Forest Border of Swedish Forest Agency</a:t>
            </a:r>
          </a:p>
        </p:txBody>
      </p:sp>
      <p:pic>
        <p:nvPicPr>
          <p:cNvPr id="6" name="Picture 5" descr="A map of the moose population&#10;&#10;Description automatically generated">
            <a:extLst>
              <a:ext uri="{FF2B5EF4-FFF2-40B4-BE49-F238E27FC236}">
                <a16:creationId xmlns:a16="http://schemas.microsoft.com/office/drawing/2014/main" id="{11A4D468-9406-69DA-0EFC-FCC017231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191" y="603576"/>
            <a:ext cx="5872521" cy="587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5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79C3F-9FA7-B99C-2965-A4E8B48DA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1273" y="0"/>
            <a:ext cx="4608632" cy="1967961"/>
          </a:xfrm>
        </p:spPr>
        <p:txBody>
          <a:bodyPr>
            <a:normAutofit/>
          </a:bodyPr>
          <a:lstStyle/>
          <a:p>
            <a:pPr algn="l"/>
            <a:r>
              <a:rPr lang="en-NL" sz="4000" dirty="0">
                <a:solidFill>
                  <a:srgbClr val="003147"/>
                </a:solidFill>
                <a:latin typeface=""/>
              </a:rPr>
              <a:t>What is Extreme Weather?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83597-A271-787F-6463-991C71102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540" y="2136989"/>
            <a:ext cx="4764366" cy="411141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>
                <a:solidFill>
                  <a:srgbClr val="003147"/>
                </a:solidFill>
              </a:rPr>
              <a:t>Initially considered climactic extreme (an unusually hot 6th of March)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>
                <a:solidFill>
                  <a:srgbClr val="003147"/>
                </a:solidFill>
              </a:rPr>
              <a:t>Currently focussing on overall extreme (overal hottest days experienced by moose in each strata)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>
                <a:solidFill>
                  <a:srgbClr val="003147"/>
                </a:solidFill>
              </a:rPr>
              <a:t>Can potentially be narrowed down later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NL" dirty="0">
                <a:solidFill>
                  <a:srgbClr val="003147"/>
                </a:solidFill>
              </a:rPr>
              <a:t>Could h</a:t>
            </a:r>
            <a:r>
              <a:rPr lang="en-GB" dirty="0" err="1">
                <a:solidFill>
                  <a:srgbClr val="003147"/>
                </a:solidFill>
              </a:rPr>
              <a:t>el</a:t>
            </a:r>
            <a:r>
              <a:rPr lang="en-NL" dirty="0">
                <a:solidFill>
                  <a:srgbClr val="003147"/>
                </a:solidFill>
              </a:rPr>
              <a:t>p find “threshhold value”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3BB85F-BE13-2E98-FA36-7C7AFF614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406444"/>
              </p:ext>
            </p:extLst>
          </p:nvPr>
        </p:nvGraphicFramePr>
        <p:xfrm>
          <a:off x="5651609" y="2057400"/>
          <a:ext cx="63348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6972">
                  <a:extLst>
                    <a:ext uri="{9D8B030D-6E8A-4147-A177-3AD203B41FA5}">
                      <a16:colId xmlns:a16="http://schemas.microsoft.com/office/drawing/2014/main" val="176660714"/>
                    </a:ext>
                  </a:extLst>
                </a:gridCol>
                <a:gridCol w="1266972">
                  <a:extLst>
                    <a:ext uri="{9D8B030D-6E8A-4147-A177-3AD203B41FA5}">
                      <a16:colId xmlns:a16="http://schemas.microsoft.com/office/drawing/2014/main" val="2293316900"/>
                    </a:ext>
                  </a:extLst>
                </a:gridCol>
                <a:gridCol w="1266972">
                  <a:extLst>
                    <a:ext uri="{9D8B030D-6E8A-4147-A177-3AD203B41FA5}">
                      <a16:colId xmlns:a16="http://schemas.microsoft.com/office/drawing/2014/main" val="1863925739"/>
                    </a:ext>
                  </a:extLst>
                </a:gridCol>
                <a:gridCol w="1266972">
                  <a:extLst>
                    <a:ext uri="{9D8B030D-6E8A-4147-A177-3AD203B41FA5}">
                      <a16:colId xmlns:a16="http://schemas.microsoft.com/office/drawing/2014/main" val="718861631"/>
                    </a:ext>
                  </a:extLst>
                </a:gridCol>
                <a:gridCol w="1266972">
                  <a:extLst>
                    <a:ext uri="{9D8B030D-6E8A-4147-A177-3AD203B41FA5}">
                      <a16:colId xmlns:a16="http://schemas.microsoft.com/office/drawing/2014/main" val="3589928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Strata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Extreme </a:t>
                      </a:r>
                      <a:br>
                        <a:rPr lang="en-NL" dirty="0"/>
                      </a:br>
                      <a:r>
                        <a:rPr lang="en-NL" dirty="0"/>
                        <a:t> - 95th Percentile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915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NL" dirty="0"/>
                        <a:t>Boreal Inland 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Summer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NL" sz="1800" dirty="0">
                          <a:effectLst/>
                        </a:rPr>
                        <a:t>2.709994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NL" sz="1800" dirty="0">
                          <a:effectLst/>
                        </a:rPr>
                        <a:t>2.02472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NL" sz="1800" dirty="0">
                          <a:effectLst/>
                        </a:rPr>
                        <a:t>6.4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74828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L" dirty="0"/>
                        <a:t>Boreal Inland 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L" dirty="0"/>
                        <a:t>Winter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NL" sz="1800" dirty="0">
                          <a:effectLst/>
                        </a:rPr>
                        <a:t>2.898357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NL" sz="1800" dirty="0">
                          <a:effectLst/>
                        </a:rPr>
                        <a:t>3.068903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NL" sz="1800" dirty="0">
                          <a:effectLst/>
                        </a:rPr>
                        <a:t>8.4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169826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4064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79C3F-9FA7-B99C-2965-A4E8B48DA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2099733"/>
          </a:xfrm>
        </p:spPr>
        <p:txBody>
          <a:bodyPr>
            <a:normAutofit/>
          </a:bodyPr>
          <a:lstStyle/>
          <a:p>
            <a:pPr algn="l"/>
            <a:r>
              <a:rPr lang="nl-NL" sz="4400" dirty="0" err="1"/>
              <a:t>Observing</a:t>
            </a:r>
            <a:r>
              <a:rPr lang="nl-NL" sz="4400" dirty="0"/>
              <a:t> Changes in Moose </a:t>
            </a:r>
            <a:r>
              <a:rPr lang="nl-NL" sz="4400" dirty="0" err="1"/>
              <a:t>Movement</a:t>
            </a:r>
            <a:endParaRPr lang="en-NL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83597-A271-787F-6463-991C71102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2998920"/>
            <a:ext cx="4620584" cy="284394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Analyse movement characteristics during extreme weather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Step length, turning angle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Compare to a week before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Will be used in habitat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342E3-D59C-20C4-2B3D-3DADDF08B6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853"/>
          <a:stretch/>
        </p:blipFill>
        <p:spPr>
          <a:xfrm>
            <a:off x="7159114" y="499826"/>
            <a:ext cx="4645585" cy="5343036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75264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026A84AF-6F58-471A-BF1F-10D8C0351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B79C3F-9FA7-B99C-2965-A4E8B48DA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3471" y="-1658062"/>
            <a:ext cx="5702085" cy="3728853"/>
          </a:xfrm>
          <a:noFill/>
        </p:spPr>
        <p:txBody>
          <a:bodyPr>
            <a:normAutofit/>
          </a:bodyPr>
          <a:lstStyle/>
          <a:p>
            <a:pPr algn="l"/>
            <a:r>
              <a:rPr lang="en-NL" sz="4800" dirty="0"/>
              <a:t>Observing Changes</a:t>
            </a:r>
            <a:br>
              <a:rPr lang="en-NL" sz="4800" dirty="0"/>
            </a:br>
            <a:r>
              <a:rPr lang="en-NL" sz="4800" dirty="0"/>
              <a:t>in Habitat Selection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983597-A271-787F-6463-991C71102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471" y="2413370"/>
            <a:ext cx="4262034" cy="4102035"/>
          </a:xfrm>
          <a:noFill/>
        </p:spPr>
        <p:txBody>
          <a:bodyPr>
            <a:normAutofit fontScale="925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Step selection functions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Take the extreme weather localisation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Take the localisation a week before (control)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Generate 5 random steps with covariates at both points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NL" dirty="0"/>
              <a:t>Conditional linear regression to see how covariates influence decisions</a:t>
            </a:r>
          </a:p>
        </p:txBody>
      </p:sp>
      <p:pic>
        <p:nvPicPr>
          <p:cNvPr id="8194" name="Picture 2" descr="Applications of step-selection functions in ecology and conservation |  Movement Ecology | Full Text">
            <a:extLst>
              <a:ext uri="{FF2B5EF4-FFF2-40B4-BE49-F238E27FC236}">
                <a16:creationId xmlns:a16="http://schemas.microsoft.com/office/drawing/2014/main" id="{4447B856-4880-CB60-B432-5CB4AFCB5D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6907"/>
          <a:stretch/>
        </p:blipFill>
        <p:spPr bwMode="auto">
          <a:xfrm>
            <a:off x="5326289" y="-5"/>
            <a:ext cx="7182495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DB2FE20-241A-1A80-4D26-D33B12389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373" y="432064"/>
            <a:ext cx="7772400" cy="5993871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64EE5C4A-7C0B-827F-86FE-360A7940D4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15773" y="5470901"/>
            <a:ext cx="4764366" cy="669011"/>
          </a:xfrm>
        </p:spPr>
        <p:txBody>
          <a:bodyPr>
            <a:normAutofit/>
          </a:bodyPr>
          <a:lstStyle/>
          <a:p>
            <a:pPr algn="l"/>
            <a:r>
              <a:rPr lang="en-NL" dirty="0">
                <a:solidFill>
                  <a:srgbClr val="003147"/>
                </a:solidFill>
              </a:rPr>
              <a:t>(Lisa et al., 2024)</a:t>
            </a:r>
          </a:p>
        </p:txBody>
      </p:sp>
    </p:spTree>
    <p:extLst>
      <p:ext uri="{BB962C8B-B14F-4D97-AF65-F5344CB8AC3E}">
        <p14:creationId xmlns:p14="http://schemas.microsoft.com/office/powerpoint/2010/main" val="2640019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865</Words>
  <Application>Microsoft Macintosh PowerPoint</Application>
  <PresentationFormat>Widescreen</PresentationFormat>
  <Paragraphs>116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Lato</vt:lpstr>
      <vt:lpstr>Noto Sans</vt:lpstr>
      <vt:lpstr>Open Sans</vt:lpstr>
      <vt:lpstr>Office Theme</vt:lpstr>
      <vt:lpstr>Moose Activity and Habitat Selection during Extreme Weather Events</vt:lpstr>
      <vt:lpstr>PowerPoint Presentation</vt:lpstr>
      <vt:lpstr>PowerPoint Presentation</vt:lpstr>
      <vt:lpstr>PowerPoint Presentation</vt:lpstr>
      <vt:lpstr>Moose Tracking</vt:lpstr>
      <vt:lpstr>Land Use / Terrain Data</vt:lpstr>
      <vt:lpstr>Weather Data</vt:lpstr>
      <vt:lpstr>Everything in a Spatial Database</vt:lpstr>
      <vt:lpstr>Methodology Overview</vt:lpstr>
      <vt:lpstr>Strata</vt:lpstr>
      <vt:lpstr>What is Extreme Weather?</vt:lpstr>
      <vt:lpstr>Observing Changes in Moose Movement</vt:lpstr>
      <vt:lpstr>Observing Changes in Habitat Selection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Habitat Selection of Swedish moose during Extreme Weather Events</dc:title>
  <dc:creator>Vegt, Niels van der</dc:creator>
  <cp:lastModifiedBy>Vegt, Niels van der</cp:lastModifiedBy>
  <cp:revision>47</cp:revision>
  <dcterms:created xsi:type="dcterms:W3CDTF">2024-06-10T01:23:12Z</dcterms:created>
  <dcterms:modified xsi:type="dcterms:W3CDTF">2024-06-11T05:41:19Z</dcterms:modified>
</cp:coreProperties>
</file>